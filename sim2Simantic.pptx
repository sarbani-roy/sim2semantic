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574"/>
    <p:restoredTop sz="96076"/>
  </p:normalViewPr>
  <p:slideViewPr>
    <p:cSldViewPr snapToGrid="0" snapToObjects="1">
      <p:cViewPr varScale="1">
        <p:scale>
          <a:sx n="74" d="100"/>
          <a:sy n="74" d="100"/>
        </p:scale>
        <p:origin x="184" y="11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615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2785186" cy="3539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300" b="1" dirty="0" err="1">
                <a:solidFill>
                  <a:srgbClr val="222222"/>
                </a:solidFill>
                <a:latin typeface="Calibri"/>
              </a:rPr>
              <a:t>generate_metadata.py</a:t>
            </a:r>
            <a:endParaRPr sz="2300" b="1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2606040" cy="868680"/>
          </a:xfrm>
          <a:prstGeom prst="roundRect">
            <a:avLst>
              <a:gd name="adj" fmla="val 7000"/>
            </a:avLst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ctr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Read simulation benchmark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950" b="0">
                <a:solidFill>
                  <a:srgbClr val="FFFFFF"/>
                </a:solidFill>
                <a:latin typeface="Calibri"/>
              </a:rPr>
              <a:t>Load params.input, main.cc, and problem.hh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005840"/>
            <a:ext cx="2514600" cy="868680"/>
          </a:xfrm>
          <a:prstGeom prst="roundRect">
            <a:avLst>
              <a:gd name="adj" fmla="val 7000"/>
            </a:avLst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ctr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Discover simulation cases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950" b="0">
                <a:solidFill>
                  <a:srgbClr val="FFFFFF"/>
                </a:solidFill>
                <a:latin typeface="Calibri"/>
              </a:rPr>
              <a:t>Locate every params.input under the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005840"/>
            <a:ext cx="2880360" cy="868680"/>
          </a:xfrm>
          <a:prstGeom prst="roundRect">
            <a:avLst>
              <a:gd name="adj" fmla="val 7000"/>
            </a:avLst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ctr"/>
          <a:lstStyle/>
          <a:p>
            <a:pPr algn="ctr">
              <a:lnSpc>
                <a:spcPct val="110000"/>
              </a:lnSpc>
            </a:pPr>
            <a:r>
              <a:rPr sz="1250" b="1" dirty="0">
                <a:solidFill>
                  <a:srgbClr val="FFFFFF"/>
                </a:solidFill>
                <a:latin typeface="Calibri"/>
              </a:rPr>
              <a:t>Choose what </a:t>
            </a:r>
            <a:r>
              <a:rPr lang="de-DE" sz="1250" b="1" dirty="0">
                <a:solidFill>
                  <a:srgbClr val="FFFFFF"/>
                </a:solidFill>
                <a:latin typeface="Calibri"/>
              </a:rPr>
              <a:t>Scenario-</a:t>
            </a:r>
            <a:r>
              <a:rPr lang="de-DE" sz="1250" b="1" dirty="0" err="1">
                <a:solidFill>
                  <a:srgbClr val="FFFFFF"/>
                </a:solidFill>
                <a:latin typeface="Calibri"/>
              </a:rPr>
              <a:t>specific</a:t>
            </a:r>
            <a:r>
              <a:rPr lang="de-DE" sz="125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de-DE" sz="1250" b="1" dirty="0" err="1">
                <a:solidFill>
                  <a:srgbClr val="FFFFFF"/>
                </a:solidFill>
                <a:latin typeface="Calibri"/>
              </a:rPr>
              <a:t>param</a:t>
            </a:r>
            <a:r>
              <a:rPr sz="1250" b="1" dirty="0">
                <a:solidFill>
                  <a:srgbClr val="FFFFFF"/>
                </a:solidFill>
                <a:latin typeface="Calibri"/>
              </a:rPr>
              <a:t>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950" b="0" dirty="0">
                <a:solidFill>
                  <a:srgbClr val="FFFFFF"/>
                </a:solidFill>
                <a:latin typeface="Calibri"/>
              </a:rPr>
              <a:t>via </a:t>
            </a:r>
            <a:r>
              <a:rPr lang="de-DE" sz="950" b="0" dirty="0" err="1">
                <a:solidFill>
                  <a:srgbClr val="FFFFFF"/>
                </a:solidFill>
                <a:latin typeface="Calibri"/>
              </a:rPr>
              <a:t>flag</a:t>
            </a:r>
            <a:r>
              <a:rPr lang="de-DE"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--scenario-params, or an interactive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1005840"/>
            <a:ext cx="2606040" cy="868680"/>
          </a:xfrm>
          <a:prstGeom prst="roundRect">
            <a:avLst>
              <a:gd name="adj" fmla="val 7000"/>
            </a:avLst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ctr"/>
          <a:lstStyle/>
          <a:p>
            <a:pPr algn="ctr">
              <a:lnSpc>
                <a:spcPct val="110000"/>
              </a:lnSpc>
            </a:pPr>
            <a:r>
              <a:rPr sz="1250" b="1" dirty="0">
                <a:solidFill>
                  <a:srgbClr val="FFFFFF"/>
                </a:solidFill>
                <a:latin typeface="Calibri"/>
              </a:rPr>
              <a:t>Check local cache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950" b="0" dirty="0">
                <a:solidFill>
                  <a:srgbClr val="FFFFFF"/>
                </a:solidFill>
                <a:latin typeface="Calibri"/>
              </a:rPr>
              <a:t>Per</a:t>
            </a:r>
            <a:r>
              <a:rPr lang="de-DE"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de-DE" sz="950" b="0" dirty="0" err="1">
                <a:solidFill>
                  <a:srgbClr val="FFFFFF"/>
                </a:solidFill>
                <a:latin typeface="Calibri"/>
              </a:rPr>
              <a:t>input</a:t>
            </a:r>
            <a:r>
              <a:rPr lang="de-DE"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de-DE" sz="950" b="0">
                <a:solidFill>
                  <a:srgbClr val="FFFFFF"/>
                </a:solidFill>
                <a:latin typeface="Calibri"/>
              </a:rPr>
              <a:t>params </a:t>
            </a:r>
            <a:r>
              <a:rPr lang="de-DE" sz="950" b="0" dirty="0" err="1">
                <a:solidFill>
                  <a:srgbClr val="FFFFFF"/>
                </a:solidFill>
                <a:latin typeface="Calibri"/>
              </a:rPr>
              <a:t>or</a:t>
            </a:r>
            <a:r>
              <a:rPr lang="de-DE"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de-DE" sz="950" b="0" dirty="0" err="1">
                <a:solidFill>
                  <a:srgbClr val="FFFFFF"/>
                </a:solidFill>
                <a:latin typeface="Calibri"/>
              </a:rPr>
              <a:t>output</a:t>
            </a:r>
            <a:r>
              <a:rPr lang="de-DE"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de-DE" sz="950" b="0" dirty="0" err="1">
                <a:solidFill>
                  <a:srgbClr val="FFFFFF"/>
                </a:solidFill>
                <a:latin typeface="Calibri"/>
              </a:rPr>
              <a:t>metric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— already explained?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99232" y="1440180"/>
            <a:ext cx="219456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88152" y="1440180"/>
            <a:ext cx="219456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42832" y="1440180"/>
            <a:ext cx="219456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46120" y="1920240"/>
            <a:ext cx="25146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8A8F98"/>
                </a:solidFill>
                <a:latin typeface="Calibri"/>
              </a:rPr>
              <a:t>for every test case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492740" y="1874520"/>
            <a:ext cx="0" cy="292608"/>
          </a:xfrm>
          <a:prstGeom prst="line">
            <a:avLst/>
          </a:prstGeom>
          <a:ln w="19050">
            <a:solidFill>
              <a:srgbClr val="8A8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057400" y="2167128"/>
            <a:ext cx="8435340" cy="0"/>
          </a:xfrm>
          <a:prstGeom prst="line">
            <a:avLst/>
          </a:prstGeom>
          <a:ln w="19050">
            <a:solidFill>
              <a:srgbClr val="8A8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57400" y="2167128"/>
            <a:ext cx="0" cy="310896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869680" y="2167128"/>
            <a:ext cx="0" cy="310896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" y="2478024"/>
            <a:ext cx="3383280" cy="960120"/>
          </a:xfrm>
          <a:prstGeom prst="roundRect">
            <a:avLst>
              <a:gd name="adj" fmla="val 7000"/>
            </a:avLst>
          </a:prstGeom>
          <a:solidFill>
            <a:srgbClr val="6B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Already annotated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950" b="0">
                <a:solidFill>
                  <a:srgbClr val="FFFFFF"/>
                </a:solidFill>
                <a:latin typeface="Calibri"/>
              </a:rPr>
              <a:t>Reuse cached metadata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2478024"/>
            <a:ext cx="5760720" cy="960120"/>
          </a:xfrm>
          <a:prstGeom prst="roundRect">
            <a:avLst>
              <a:gd name="adj" fmla="val 7000"/>
            </a:avLst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Infer semantic metadata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950" b="0">
                <a:solidFill>
                  <a:srgbClr val="FFFFFF"/>
                </a:solidFill>
                <a:latin typeface="Calibri"/>
              </a:rPr>
              <a:t>Automatically infer parameter and metric semantics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57400" y="3438144"/>
            <a:ext cx="0" cy="283464"/>
          </a:xfrm>
          <a:prstGeom prst="line">
            <a:avLst/>
          </a:prstGeom>
          <a:ln w="19050">
            <a:solidFill>
              <a:srgbClr val="8A8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869680" y="3438144"/>
            <a:ext cx="0" cy="283464"/>
          </a:xfrm>
          <a:prstGeom prst="line">
            <a:avLst/>
          </a:prstGeom>
          <a:ln w="19050">
            <a:solidFill>
              <a:srgbClr val="8A8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37360" y="3721608"/>
            <a:ext cx="7132320" cy="0"/>
          </a:xfrm>
          <a:prstGeom prst="line">
            <a:avLst/>
          </a:prstGeom>
          <a:ln w="19050">
            <a:solidFill>
              <a:srgbClr val="8A8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737360" y="3721608"/>
            <a:ext cx="0" cy="283464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60720" y="3721608"/>
            <a:ext cx="51206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8A8F98"/>
                </a:solidFill>
                <a:latin typeface="Calibri"/>
              </a:rPr>
              <a:t>returns the explanations to generate_metadata.py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005072"/>
            <a:ext cx="2743200" cy="868680"/>
          </a:xfrm>
          <a:prstGeom prst="roundRect">
            <a:avLst>
              <a:gd name="adj" fmla="val 7000"/>
            </a:avLst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Merge &amp; save cache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900" b="0">
                <a:solidFill>
                  <a:srgbClr val="FFFFFF"/>
                </a:solidFill>
                <a:latin typeface="Calibri"/>
              </a:rPr>
              <a:t>New answers + everything saved before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4005072"/>
            <a:ext cx="2697480" cy="868680"/>
          </a:xfrm>
          <a:prstGeom prst="roundRect">
            <a:avLst>
              <a:gd name="adj" fmla="val 7000"/>
            </a:avLst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ctr"/>
          <a:lstStyle/>
          <a:p>
            <a:pPr algn="ctr">
              <a:lnSpc>
                <a:spcPct val="110000"/>
              </a:lnSpc>
            </a:pPr>
            <a:r>
              <a:rPr sz="1200" b="1" dirty="0">
                <a:solidFill>
                  <a:srgbClr val="FFFFFF"/>
                </a:solidFill>
                <a:latin typeface="Calibri"/>
              </a:rPr>
              <a:t>Add values for each case's settings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900" b="0" dirty="0">
                <a:solidFill>
                  <a:srgbClr val="FFFFFF"/>
                </a:solidFill>
                <a:latin typeface="Calibri"/>
              </a:rPr>
              <a:t>Pulls the actual values used in that run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005072"/>
            <a:ext cx="2743200" cy="868680"/>
          </a:xfrm>
          <a:prstGeom prst="roundRect">
            <a:avLst>
              <a:gd name="adj" fmla="val 7000"/>
            </a:avLst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ctr"/>
          <a:lstStyle/>
          <a:p>
            <a:pPr algn="ctr">
              <a:lnSpc>
                <a:spcPct val="110000"/>
              </a:lnSpc>
            </a:pPr>
            <a:r>
              <a:rPr sz="1200" b="1" dirty="0">
                <a:solidFill>
                  <a:srgbClr val="FFFFFF"/>
                </a:solidFill>
                <a:latin typeface="Calibri"/>
              </a:rPr>
              <a:t>Gather background info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900" b="0" dirty="0">
                <a:solidFill>
                  <a:srgbClr val="FFFFFF"/>
                </a:solidFill>
                <a:latin typeface="Calibri"/>
              </a:rPr>
              <a:t>License, software used, where it's from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4005072"/>
            <a:ext cx="2423160" cy="868680"/>
          </a:xfrm>
          <a:prstGeom prst="roundRect">
            <a:avLst>
              <a:gd name="adj" fmla="val 7000"/>
            </a:avLst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Build semantic graph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900" b="0">
                <a:solidFill>
                  <a:srgbClr val="FFFFFF"/>
                </a:solidFill>
                <a:latin typeface="Calibri"/>
              </a:rPr>
              <a:t>Settings, results, cases → one graph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36392" y="4439412"/>
            <a:ext cx="219456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08192" y="4439412"/>
            <a:ext cx="219456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25712" y="4439412"/>
            <a:ext cx="219456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584180" y="4873752"/>
            <a:ext cx="0" cy="228600"/>
          </a:xfrm>
          <a:prstGeom prst="line">
            <a:avLst/>
          </a:prstGeom>
          <a:ln w="19050">
            <a:solidFill>
              <a:srgbClr val="8A8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2907792" y="5102352"/>
            <a:ext cx="7676388" cy="0"/>
          </a:xfrm>
          <a:prstGeom prst="line">
            <a:avLst/>
          </a:prstGeom>
          <a:ln w="19050">
            <a:solidFill>
              <a:srgbClr val="8A8F9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07792" y="5102352"/>
            <a:ext cx="0" cy="338328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467612" y="5440680"/>
            <a:ext cx="2880360" cy="868680"/>
          </a:xfrm>
          <a:prstGeom prst="roundRect">
            <a:avLst>
              <a:gd name="adj" fmla="val 7000"/>
            </a:avLst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Generate RO-Crate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950" b="0">
                <a:solidFill>
                  <a:srgbClr val="FFFFFF"/>
                </a:solidFill>
                <a:latin typeface="Calibri"/>
              </a:rPr>
              <a:t>Standard, shareable RO-Crate format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40580" y="5440680"/>
            <a:ext cx="3063240" cy="868680"/>
          </a:xfrm>
          <a:prstGeom prst="roundRect">
            <a:avLst>
              <a:gd name="adj" fmla="val 7000"/>
            </a:avLst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Validate it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950" b="0">
                <a:solidFill>
                  <a:srgbClr val="FFFFFF"/>
                </a:solidFill>
                <a:latin typeface="Calibri"/>
              </a:rPr>
              <a:t>Validates against RO-Crate — never blocks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96428" y="5440680"/>
            <a:ext cx="2697480" cy="868680"/>
          </a:xfrm>
          <a:prstGeom prst="roundRect">
            <a:avLst>
              <a:gd name="adj" fmla="val 50000"/>
            </a:avLst>
          </a:prstGeom>
          <a:solidFill>
            <a:srgbClr val="DCEFC7"/>
          </a:solidFill>
          <a:ln w="15875">
            <a:solidFill>
              <a:srgbClr val="B9D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82296" rtlCol="0" anchor="ctr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2C5F1E"/>
                </a:solidFill>
                <a:latin typeface="Calibri"/>
              </a:rPr>
              <a:t>metadata.jsonld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950" b="0">
                <a:solidFill>
                  <a:srgbClr val="3F6B22"/>
                </a:solidFill>
                <a:latin typeface="Calibri"/>
              </a:rPr>
              <a:t>The finished, shareable output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375404" y="5875020"/>
            <a:ext cx="237744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731252" y="5875020"/>
            <a:ext cx="237744" cy="0"/>
          </a:xfrm>
          <a:prstGeom prst="line">
            <a:avLst/>
          </a:prstGeom>
          <a:ln w="19050">
            <a:solidFill>
              <a:srgbClr val="8A8F9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ai_parameter_inference.py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2734056" cy="777240"/>
          </a:xfrm>
          <a:prstGeom prst="roundRect">
            <a:avLst>
              <a:gd name="adj" fmla="val 7059"/>
            </a:avLst>
          </a:prstGeom>
          <a:solidFill>
            <a:srgbClr val="1C8C8C"/>
          </a:solidFill>
          <a:ln>
            <a:solidFill>
              <a:srgbClr val="1C8C8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LLM prompt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the context (see left)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118104" y="1348740"/>
            <a:ext cx="1280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264408" y="960120"/>
            <a:ext cx="2734056" cy="777240"/>
          </a:xfrm>
          <a:prstGeom prst="roundRect">
            <a:avLst>
              <a:gd name="adj" fmla="val 7059"/>
            </a:avLst>
          </a:prstGeom>
          <a:solidFill>
            <a:srgbClr val="1C8C8C"/>
          </a:solidFill>
          <a:ln>
            <a:solidFill>
              <a:srgbClr val="1C8C8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AI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or OpenAI (see right)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16752" y="1348740"/>
            <a:ext cx="1280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163056" y="960120"/>
            <a:ext cx="2734056" cy="777240"/>
          </a:xfrm>
          <a:prstGeom prst="roundRect">
            <a:avLst>
              <a:gd name="adj" fmla="val 7059"/>
            </a:avLst>
          </a:prstGeom>
          <a:solidFill>
            <a:srgbClr val="1C8C8C"/>
          </a:solidFill>
          <a:ln>
            <a:solidFill>
              <a:srgbClr val="1C8C8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answer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format? Nothing missing?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915400" y="1348740"/>
            <a:ext cx="1280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061704" y="960120"/>
            <a:ext cx="2734056" cy="777240"/>
          </a:xfrm>
          <a:prstGeom prst="roundRect">
            <a:avLst>
              <a:gd name="adj" fmla="val 7059"/>
            </a:avLst>
          </a:prstGeom>
          <a:solidFill>
            <a:srgbClr val="1C8C8C"/>
          </a:solidFill>
          <a:ln>
            <a:solidFill>
              <a:srgbClr val="1C8C8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explanation</a:t>
            </a:r>
            <a:endParaRPr lang="en-US" sz="125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Cached, so it's asked only once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83273" y="1737360"/>
            <a:ext cx="0" cy="25603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78247" y="1993392"/>
            <a:ext cx="180502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78247" y="1737360"/>
            <a:ext cx="0" cy="25603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</a:ln>
        </p:spPr>
      </p:sp>
      <p:sp>
        <p:nvSpPr>
          <p:cNvPr id="14" name="Text 12"/>
          <p:cNvSpPr/>
          <p:nvPr/>
        </p:nvSpPr>
        <p:spPr>
          <a:xfrm>
            <a:off x="3264408" y="2029968"/>
            <a:ext cx="5468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or incomplete → tries again (up to 3 times)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5586984" cy="1760220"/>
          </a:xfrm>
          <a:prstGeom prst="roundRect">
            <a:avLst>
              <a:gd name="adj" fmla="val 2791"/>
            </a:avLst>
          </a:prstGeom>
          <a:solidFill>
            <a:srgbClr val="FAF9F6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31720"/>
            <a:ext cx="82296" cy="1760220"/>
          </a:xfrm>
          <a:prstGeom prst="rect">
            <a:avLst/>
          </a:prstGeom>
          <a:solidFill>
            <a:srgbClr val="1C8C8C"/>
          </a:solidFill>
          <a:ln w="12700">
            <a:solidFill>
              <a:srgbClr val="1C8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441448"/>
            <a:ext cx="5129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supplied to the LLM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" y="2788920"/>
            <a:ext cx="5129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description</a:t>
            </a:r>
            <a:endParaRPr lang="en-US" sz="11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parameters/metrics</a:t>
            </a:r>
            <a:endParaRPr lang="en-US" sz="11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source (main.cc, </a:t>
            </a:r>
            <a:r>
              <a:rPr lang="en-US" sz="11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problem.hh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cs typeface="Calibri" pitchFamily="34" charset="-120"/>
              </a:rPr>
              <a:t>C++ variable hints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08776" y="2331720"/>
            <a:ext cx="5586984" cy="1760220"/>
          </a:xfrm>
          <a:prstGeom prst="roundRect">
            <a:avLst>
              <a:gd name="adj" fmla="val 2791"/>
            </a:avLst>
          </a:prstGeom>
          <a:solidFill>
            <a:srgbClr val="FAF9F6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8776" y="2331720"/>
            <a:ext cx="82296" cy="1760220"/>
          </a:xfrm>
          <a:prstGeom prst="rect">
            <a:avLst/>
          </a:prstGeom>
          <a:solidFill>
            <a:srgbClr val="1F5C8B"/>
          </a:solidFill>
          <a:ln w="12700">
            <a:solidFill>
              <a:srgbClr val="1F5C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2441448"/>
            <a:ext cx="5129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5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provider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64808" y="2788920"/>
            <a:ext cx="5129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--provider groq (default) or --provider openai  ·  --model to override the model</a:t>
            </a:r>
            <a:endParaRPr lang="en-US" sz="11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tested with </a:t>
            </a:r>
            <a:r>
              <a:rPr lang="en-US" sz="11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r>
              <a:rPr lang="en-US" sz="115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only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GROQ_API_KEY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411980"/>
            <a:ext cx="5586984" cy="1760220"/>
          </a:xfrm>
          <a:prstGeom prst="roundRect">
            <a:avLst>
              <a:gd name="adj" fmla="val 2791"/>
            </a:avLst>
          </a:prstGeom>
          <a:solidFill>
            <a:srgbClr val="FAF9F6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411980"/>
            <a:ext cx="82296" cy="1760220"/>
          </a:xfrm>
          <a:prstGeom prst="rect">
            <a:avLst/>
          </a:prstGeom>
          <a:solidFill>
            <a:srgbClr val="6B8E3C"/>
          </a:solidFill>
          <a:ln w="12700">
            <a:solidFill>
              <a:srgbClr val="6B8E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4521708"/>
            <a:ext cx="5129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ask an AI at all?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" y="4869180"/>
            <a:ext cx="5129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1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files use short — not enough on their own to know the real meaning or unit</a:t>
            </a:r>
            <a:endParaRPr lang="en-US" sz="11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Hardcoding semantic mappings would only work for specific simulation frameworks. Using an LLM makes the approach generalizable to different simulation codes.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08776" y="4411980"/>
            <a:ext cx="5586984" cy="1760220"/>
          </a:xfrm>
          <a:prstGeom prst="roundRect">
            <a:avLst>
              <a:gd name="adj" fmla="val 2791"/>
            </a:avLst>
          </a:prstGeom>
          <a:solidFill>
            <a:srgbClr val="FAF9F6"/>
          </a:solidFill>
          <a:ln w="12700">
            <a:solidFill>
              <a:srgbClr val="D9D4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08776" y="4411980"/>
            <a:ext cx="82296" cy="1760220"/>
          </a:xfrm>
          <a:prstGeom prst="rect">
            <a:avLst/>
          </a:prstGeom>
          <a:solidFill>
            <a:srgbClr val="8A5A2C"/>
          </a:solidFill>
          <a:ln w="12700">
            <a:solidFill>
              <a:srgbClr val="8A5A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4808" y="4521708"/>
            <a:ext cx="5129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 it to return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64808" y="4869180"/>
            <a:ext cx="5129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name for the setting or result</a:t>
            </a:r>
            <a:endParaRPr lang="en-US" sz="11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data type — integer, float, or string</a:t>
            </a:r>
            <a:endParaRPr lang="en-US" sz="11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unit, using the QUDT standard</a:t>
            </a:r>
            <a:endParaRPr lang="en-US" sz="11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quantity it is (e.g. pressure, length, count)</a:t>
            </a:r>
            <a:endParaRPr lang="en-US" sz="11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confident it is, plus a short explanation why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381</Words>
  <Application>Microsoft Macintosh PowerPoint</Application>
  <PresentationFormat>Widescreen</PresentationFormat>
  <Paragraphs>58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Sarbani Roy</cp:lastModifiedBy>
  <cp:revision>5</cp:revision>
  <dcterms:created xsi:type="dcterms:W3CDTF">2026-07-20T10:38:52Z</dcterms:created>
  <dcterms:modified xsi:type="dcterms:W3CDTF">2026-07-21T09:24:09Z</dcterms:modified>
</cp:coreProperties>
</file>